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3758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0:30
Abertura sugerida: “Nosso projeto propõe uma camada de análise para apoiar a prevenção da inadimplência na Academia Equilíbrio e Movimento. O foco é organizar os dados existentes, tornar os indicadores confiáveis e ajudar a equipe a priorizar revisões, sem substituir o sistema atual nem automatizar decisões sobre alunos.”
Antes de apresentar, substituam [NOMES DOS INTEGRANTES].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2:30 - PRIORIZAR ESTA PARTE
IMPORTANTE: os arquivos recebidos citam a Academia Equilíbrio e Movimento como parceira e descrevem dados exportados da academia, mas NÃO informam o nome do responsável externo, uma cronologia de contato com evidência, nem o status do Termo de Anuência. Não inventem esses dados e não deixem os campos entre colchetes na versão final.
Substituir em grupo antes de apresentar: (1) nome e função da pessoa responsável na academia; (2) data, canal e resumo do contato realizado, com uma evidência verificável; (3) situação real do termo: assinado, solicitado ou pendente, com data e próxima ação. Abrir a evidência autorizada na tela se for apropriado.
Fala sugerida depois de preencher: “Nosso parceiro externo é [organização], e o contato ocorre com [responsável/função]. Até aqui, realizamos [interação] em [data], cujo resultado foi [resumo]. O Termo de Anuência está [status], e a próxima ação acordada é [ação/data].”
Se ainda não houve interação registrada, digam isso com transparência e tratem como pendência urgente - a identificação nominal da organização, sozinha, não comprova a interação de extensão.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1:00
“Nosso ponto de partida é uma hipótese de trabalho: a academia já tem registros de cadastro e cobrança, mas precisamos confirmar como esses dados são usados hoje, em que momento a equipe percebe um atraso e quais decisões ficam difíceis. Por isso não partimos do pressuposto de que um algoritmo vai resolver tudo. Primeiro vamos validar a demanda com o parceiro e conferir o significado real dos campos.”
Pergunta de confirmação ao parceiro, se estiver presente: “Qual etapa do acompanhamento de cobrança consome mais tempo ou gera mais incerteza hoje?”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1:00
“O recorte realista deste semestre é montar a base de confiança: saber quais dados temos, padronizá-los, definir regras financeiras junto à academia e construir indicadores verificáveis. O painel e os alertas explicáveis são o protótipo esperado. Previsão de risco em 30 dias será avaliada apenas se o histórico for suficiente e se pudermos validar em períodos futuros. O sistema complementa a gestão existente e não toma decisões automáticas sobre pessoas.”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1:30
“No levantamento do projeto atual, as cobranças têm um intervalo observado de 15 de outubro de 2024 a 15 de outubro de 2026; acessos cobrem aproximadamente um mês e tentativas de pagamento, três meses. Ainda não há contagens confirmadas por arquivo no relatório. O histórico de contratos e mudanças de plano não foi localizado, e a consistência do identificador entre tabelas precisa ser testada.
Separadamente, o material anterior de churn registra 4.364 alunos, 8.489 contratos e 71.321 parcelas em uma janela de 2022 a 2026. Esses números são do estudo de churn e precisamos confirmar que a extração é a mesma e está autorizada para o novo escopo. Não vamos usar o volume agregado como se todos esses registros já estivessem validados para a análise de inadimplência.
As limitações mais relevantes são janela curta de acessos, tentativas de pagamento com vínculo ainda a confirmar, ausência de histórico de contratos e risco de expor dados pessoais.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2:00
“Separando os status: no estudo anterior de churn, a documentação registra pipeline de limpeza e anonimização, engenharia de atributos, comparação de cinco classificadores e resultado de XGBoost no teste: ROC-AUC 0,849, F1 0,731 e recall 0,773; a validação cruzada reportada teve ROC-AUC médio de 0,853 com desvio de 0,013.
É essencial dizer que esse experimento previa churn segundo o rótulo definido naquele estudo - não mede desempenho de um modelo de inadimplência. O próprio material reconhece possível otimismo devido à janela de parcelas e ao modo como cancelamentos afetam parcelas futuras.
No escopo de inadimplência, o levantamento inicial existe, mas o relatório ainda lista confirmações de campos, regras financeiras e validação como próximas verificações. O painel, os alertas explicáveis e a eventual previsão em 30 dias permanecem como entregas propostas, não como funcionalidades prontas. Atualizem o status para refletir o que o grupo realmente concluiu até a data da apresentação.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1:00
“O fluxo proposto é simples de auditar: importar apenas arquivos autorizados; verificar datas, valores, status e vínculos; calcular indicadores com data de referência; sinalizar casos explicando os motivos; e deixar a equipe validar e registrar a ação. Um alerta não comprova intenção de não pagar e nunca deve gerar punição automática. Antes do contato, é preciso confirmar pagamentos não conciliados, acordos e estornos. O valor do projeto é conectar análise, justificativa e acompanhamento.”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0:45
“Agora vamos abrir o repositório real e mostrar o README, a estrutura, como reproduzir o pipeline e os testes. O URL não foi fornecido nos documentos que recebemos, então ele precisa ser colocado no slide. Se o repositório ainda não tiver esta estrutura, não digam que tem: mostrem o que existe e indiquem as lacunas. Nunca comitar arquivos de cadastro, telefones, matrículas originais, cobranças reais ou exportações identificáveis. Para uma demonstração compartilhável, usem dados estritamente sintéticos.”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1:15
“Os próximos passos são: (1) confirmar a demanda, o responsável e a situação da anuência; (2) validar campos, chaves e regras de negócio; (3) implementar pipeline e indicadores; (4) demonstrar um protótipo à equipe e registrar o feedback; e (5) entregar código, documentação e uma avaliação honesta dos limites. A próxima interação com o parceiro ainda precisa ser preenchida com data e canal confirmados. A pauta sugerida é esclarecer status e atraso, autorizar e conferir uma amostra, e priorizar indicadores para o protótipo.”
Não inventar uma reunião futura como se já estivesse agendada. Se ainda não houver data, dizer que será combinada e apontar uma ação concreta para agendar.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6528816"/>
            <a:ext cx="11228832" cy="10973"/>
          </a:xfrm>
          <a:prstGeom prst="rect">
            <a:avLst/>
          </a:prstGeom>
          <a:solidFill>
            <a:srgbClr val="D9E1EA"/>
          </a:solidFill>
          <a:ln w="12700">
            <a:solidFill>
              <a:srgbClr val="D9E1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6574536"/>
            <a:ext cx="7680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878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PIM I  /  CEUB  /  ACADEMIA EQUILÍBRIO E MOVIMENTO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878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878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A99A"/>
          </a:solidFill>
          <a:ln w="1270">
            <a:solidFill>
              <a:srgbClr val="10A99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13648" y="713232"/>
            <a:ext cx="2834640" cy="2834640"/>
          </a:xfrm>
          <a:prstGeom prst="ellipse">
            <a:avLst/>
          </a:prstGeom>
          <a:solidFill>
            <a:srgbClr val="1A3550">
              <a:alpha val="90000"/>
            </a:srgbClr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89720" y="1298448"/>
            <a:ext cx="1691640" cy="1691640"/>
          </a:xfrm>
          <a:prstGeom prst="ellipse">
            <a:avLst/>
          </a:prstGeom>
          <a:solidFill>
            <a:srgbClr val="10A99A">
              <a:alpha val="94000"/>
            </a:srgbClr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01784" y="1810512"/>
            <a:ext cx="658368" cy="658368"/>
          </a:xfrm>
          <a:prstGeom prst="ellipse">
            <a:avLst/>
          </a:prstGeom>
          <a:solidFill>
            <a:srgbClr val="E9954B"/>
          </a:solidFill>
          <a:ln w="1270">
            <a:solidFill>
              <a:srgbClr val="E9954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3959352"/>
            <a:ext cx="2240280" cy="0"/>
          </a:xfrm>
          <a:prstGeom prst="line">
            <a:avLst/>
          </a:prstGeom>
          <a:solidFill>
            <a:srgbClr val="4D6A7F"/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75320" y="3959352"/>
            <a:ext cx="0" cy="1024128"/>
          </a:xfrm>
          <a:prstGeom prst="line">
            <a:avLst/>
          </a:prstGeom>
          <a:solidFill>
            <a:srgbClr val="4D6A7F"/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3959352"/>
            <a:ext cx="658368" cy="685800"/>
          </a:xfrm>
          <a:prstGeom prst="line">
            <a:avLst/>
          </a:prstGeom>
          <a:solidFill>
            <a:srgbClr val="4D6A7F"/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512064"/>
            <a:ext cx="2606040" cy="292608"/>
          </a:xfrm>
          <a:prstGeom prst="roundRect">
            <a:avLst>
              <a:gd name="adj" fmla="val 37500"/>
            </a:avLst>
          </a:prstGeom>
          <a:solidFill>
            <a:srgbClr val="243D55"/>
          </a:solidFill>
          <a:ln w="1270">
            <a:solidFill>
              <a:srgbClr val="243D55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" y="525780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5E5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 EXTENSÃO · ATÉ 15 MIN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1234440"/>
            <a:ext cx="7132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 de apoio à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prevenção da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inadimplência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410712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B9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Integrador · Ciência de Dados e Machine Learning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49808" y="3968496"/>
            <a:ext cx="658368" cy="50292"/>
          </a:xfrm>
          <a:prstGeom prst="rect">
            <a:avLst/>
          </a:prstGeom>
          <a:solidFill>
            <a:srgbClr val="10A99A"/>
          </a:solidFill>
          <a:ln w="1270">
            <a:solidFill>
              <a:srgbClr val="10A99A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42519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88A2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Parceiro declarado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4489704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Academia Equilíbrio e Movimento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B9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Brasília · DF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589788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B9CB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Grupo: Pedro Rebello, Guilherme Mendes, Eduardo Barros, Gabriel Francisco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46720" y="4828032"/>
            <a:ext cx="1143000" cy="292608"/>
          </a:xfrm>
          <a:prstGeom prst="roundRect">
            <a:avLst>
              <a:gd name="adj" fmla="val 37500"/>
            </a:avLst>
          </a:prstGeom>
          <a:solidFill>
            <a:srgbClr val="263E55"/>
          </a:solidFill>
          <a:ln w="1270">
            <a:solidFill>
              <a:srgbClr val="263E55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19872" y="4841748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F2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308592" y="4828032"/>
            <a:ext cx="1143000" cy="292608"/>
          </a:xfrm>
          <a:prstGeom prst="roundRect">
            <a:avLst>
              <a:gd name="adj" fmla="val 37500"/>
            </a:avLst>
          </a:prstGeom>
          <a:solidFill>
            <a:srgbClr val="164A50"/>
          </a:solidFill>
          <a:ln w="1270">
            <a:solidFill>
              <a:srgbClr val="164A50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81744" y="4841748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DF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SINAIS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570464" y="4828032"/>
            <a:ext cx="960120" cy="292608"/>
          </a:xfrm>
          <a:prstGeom prst="roundRect">
            <a:avLst>
              <a:gd name="adj" fmla="val 37500"/>
            </a:avLst>
          </a:prstGeom>
          <a:solidFill>
            <a:srgbClr val="65452E"/>
          </a:solidFill>
          <a:ln w="1270">
            <a:solidFill>
              <a:srgbClr val="65452E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643616" y="4841748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E2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AÇÃO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028432" y="53218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D5E2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exportação à decisão humana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62636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8A2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CEUB · PIM I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91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40" dirty="0">
                <a:solidFill>
                  <a:srgbClr val="10A9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PARCEIRO (ACE)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parceria precisa ser demonstrável - não apenas citada.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Este é o principal critério de viabilidade da extensão. O material disponível identifica a organização, mas não documenta todos os dados de contato.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86400" cy="4096512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50292" cy="4096512"/>
          </a:xfrm>
          <a:prstGeom prst="rect">
            <a:avLst/>
          </a:prstGeom>
          <a:solidFill>
            <a:srgbClr val="10A99A"/>
          </a:solidFill>
          <a:ln w="1270">
            <a:solidFill>
              <a:srgbClr val="10A99A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933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40" dirty="0">
                <a:solidFill>
                  <a:srgbClr val="10A9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ORGANIZAÇÃO EXTERNA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6771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Academia Equilíbrio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1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 Movimento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1272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informado: Brasília - DF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1248" y="3538728"/>
            <a:ext cx="4828032" cy="0"/>
          </a:xfrm>
          <a:prstGeom prst="line">
            <a:avLst/>
          </a:prstGeom>
          <a:solidFill>
            <a:srgbClr val="D8E1EA"/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37307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4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RESPONSÁVEL EXTERNO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39776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84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[NOME + CARGO/FUNÇÃO]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44622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4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CONTATO JÁ REALIZADO - EVIDÊNCIA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47183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4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[DATA] · [CANAL] · [RESUMO/RETORNO]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521208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Evidência a abrir: [e-mail, ata, mensagem ou registro autorizado]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72784" y="1737360"/>
            <a:ext cx="5376672" cy="4096512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2784" y="1737360"/>
            <a:ext cx="50292" cy="4096512"/>
          </a:xfrm>
          <a:prstGeom prst="rect">
            <a:avLst/>
          </a:prstGeom>
          <a:solidFill>
            <a:srgbClr val="E9954B"/>
          </a:solidFill>
          <a:ln w="1270">
            <a:solidFill>
              <a:srgbClr val="E9954B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47104" y="19933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40" dirty="0">
                <a:solidFill>
                  <a:srgbClr val="E99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TERMO DE ANUÊNCIA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547104" y="231343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Status não informado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11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nos PDFs recebidos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565392" y="313639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Selecionar e preencher a situação real: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83680" y="3584448"/>
            <a:ext cx="173736" cy="1737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9954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76288" y="35478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ASSINADO</a:t>
            </a:r>
            <a:endParaRPr lang="en-US" sz="1020" dirty="0"/>
          </a:p>
        </p:txBody>
      </p:sp>
      <p:sp>
        <p:nvSpPr>
          <p:cNvPr id="23" name="Text 21"/>
          <p:cNvSpPr txBox="1"/>
          <p:nvPr/>
        </p:nvSpPr>
        <p:spPr>
          <a:xfrm>
            <a:off x="7973568" y="354787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Data: [DD/MM/AAAA]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0" y="4078224"/>
            <a:ext cx="173736" cy="1737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9954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76288" y="40416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SOLICITADO</a:t>
            </a:r>
            <a:endParaRPr lang="en-US" sz="1020" dirty="0"/>
          </a:p>
        </p:txBody>
      </p:sp>
      <p:sp>
        <p:nvSpPr>
          <p:cNvPr id="26" name="Text 24"/>
          <p:cNvSpPr txBox="1"/>
          <p:nvPr/>
        </p:nvSpPr>
        <p:spPr>
          <a:xfrm>
            <a:off x="7973568" y="404164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e a quem: [PREENCHER]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83680" y="4572000"/>
            <a:ext cx="173736" cy="1737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9954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76288" y="453542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PENDENTE</a:t>
            </a:r>
            <a:endParaRPr lang="en-US" sz="1020" dirty="0"/>
          </a:p>
        </p:txBody>
      </p:sp>
      <p:sp>
        <p:nvSpPr>
          <p:cNvPr id="29" name="Text 27"/>
          <p:cNvSpPr txBox="1"/>
          <p:nvPr/>
        </p:nvSpPr>
        <p:spPr>
          <a:xfrm>
            <a:off x="7973568" y="453542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Próxima ação: [PREENCHER]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961888"/>
            <a:ext cx="11100816" cy="384048"/>
          </a:xfrm>
          <a:prstGeom prst="roundRect">
            <a:avLst>
              <a:gd name="adj" fmla="val 28571"/>
            </a:avLst>
          </a:prstGeom>
          <a:solidFill>
            <a:srgbClr val="FCE7E5"/>
          </a:solidFill>
          <a:ln w="1270">
            <a:solidFill>
              <a:srgbClr val="FCE7E5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9808" y="6007608"/>
            <a:ext cx="10716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4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DO PITCH: preencher responsável, contato registrado e status real do termo. Não apresentar os campos em vermelho como fatos.</a:t>
            </a:r>
            <a:endParaRPr lang="en-US" sz="11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878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91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40" dirty="0">
                <a:solidFill>
                  <a:srgbClr val="10A9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PROBLEMA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Transformar registros de cobrança em ação confiável.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Hipótese de demanda a validar com a pessoa responsável na academia - não tratar como diagnóstico operacional já confirmado.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956816"/>
            <a:ext cx="3547872" cy="239572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956816"/>
            <a:ext cx="50292" cy="2395728"/>
          </a:xfrm>
          <a:prstGeom prst="rect">
            <a:avLst/>
          </a:prstGeom>
          <a:solidFill>
            <a:srgbClr val="5C7CFA"/>
          </a:solidFill>
          <a:ln w="1270">
            <a:solidFill>
              <a:srgbClr val="5C7CFA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2128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5C7C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61488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dispersos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46120"/>
            <a:ext cx="29077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Exportações administrativas em CSV/Excel precisam ser conectadas e conferidas.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4315968" y="1956816"/>
            <a:ext cx="3547872" cy="239572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15968" y="1956816"/>
            <a:ext cx="50292" cy="2395728"/>
          </a:xfrm>
          <a:prstGeom prst="rect">
            <a:avLst/>
          </a:prstGeom>
          <a:solidFill>
            <a:srgbClr val="E9954B"/>
          </a:solidFill>
          <a:ln w="1270">
            <a:solidFill>
              <a:srgbClr val="E9954B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22128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995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761488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Regras ambíguas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246120"/>
            <a:ext cx="29077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“Pago”, “aberto” e “cancelado” podem ter significados diferentes sem regras acordadas.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8065008" y="1956816"/>
            <a:ext cx="3547872" cy="2395728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5008" y="1956816"/>
            <a:ext cx="50292" cy="2395728"/>
          </a:xfrm>
          <a:prstGeom prst="rect">
            <a:avLst/>
          </a:prstGeom>
          <a:solidFill>
            <a:srgbClr val="10A99A"/>
          </a:solidFill>
          <a:ln w="1270">
            <a:solidFill>
              <a:srgbClr val="10A99A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22128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0A99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5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761488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Prioridade tardia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246120"/>
            <a:ext cx="29077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indicadores consistentes, fica difícil decidir quais casos revisar primeiro.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566928" y="4736592"/>
            <a:ext cx="11045952" cy="960120"/>
          </a:xfrm>
          <a:prstGeom prst="roundRect">
            <a:avLst>
              <a:gd name="adj" fmla="val 11429"/>
            </a:avLst>
          </a:prstGeom>
          <a:solidFill>
            <a:srgbClr val="11243A"/>
          </a:solidFill>
          <a:ln w="1270">
            <a:solidFill>
              <a:srgbClr val="11243A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" y="49377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8EDD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Pergunta do projeto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" y="5230368"/>
            <a:ext cx="10241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identificar e explicar situações que exigem atenção, antes que virem atrasos acumulados?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03504" y="59253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i="1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demanda e o fluxo real serão validados com o parceiro antes de definir regras ou recomendar ações.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878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91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40" dirty="0">
                <a:solidFill>
                  <a:srgbClr val="10A9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RECORTE DO SEMESTRE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Entregar uma base confiável antes de prometer previsão.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proposta é incremental: entregar utilidade mesmo que os dados não sustentem um modelo preditivo.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55648"/>
            <a:ext cx="5486400" cy="422452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55648"/>
            <a:ext cx="50292" cy="4224528"/>
          </a:xfrm>
          <a:prstGeom prst="rect">
            <a:avLst/>
          </a:prstGeom>
          <a:solidFill>
            <a:srgbClr val="10A99A"/>
          </a:solidFill>
          <a:ln w="1270">
            <a:solidFill>
              <a:srgbClr val="10A99A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20116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40" dirty="0">
                <a:solidFill>
                  <a:srgbClr val="10A9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ENTREGAS DENTRO DO ESCOPO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77824" y="2510028"/>
            <a:ext cx="68580" cy="68580"/>
          </a:xfrm>
          <a:prstGeom prst="ellipse">
            <a:avLst/>
          </a:prstGeom>
          <a:solidFill>
            <a:srgbClr val="10A99A"/>
          </a:solidFill>
          <a:ln w="1270">
            <a:solidFill>
              <a:srgbClr val="10A99A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33272" y="2404872"/>
            <a:ext cx="45994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72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Inventário de arquivos, campos e limitações.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877824" y="3131820"/>
            <a:ext cx="68580" cy="68580"/>
          </a:xfrm>
          <a:prstGeom prst="ellipse">
            <a:avLst/>
          </a:prstGeom>
          <a:solidFill>
            <a:srgbClr val="10A99A"/>
          </a:solidFill>
          <a:ln w="1270">
            <a:solidFill>
              <a:srgbClr val="10A99A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33272" y="3026664"/>
            <a:ext cx="45994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72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reproduzível de importação, limpeza e validação.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877824" y="3753612"/>
            <a:ext cx="68580" cy="68580"/>
          </a:xfrm>
          <a:prstGeom prst="ellipse">
            <a:avLst/>
          </a:prstGeom>
          <a:solidFill>
            <a:srgbClr val="10A99A"/>
          </a:solidFill>
          <a:ln w="1270">
            <a:solidFill>
              <a:srgbClr val="10A99A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33272" y="3648456"/>
            <a:ext cx="45994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72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Regras documentadas para recebido, a vencer, vencido e cancelado.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877824" y="4375404"/>
            <a:ext cx="68580" cy="68580"/>
          </a:xfrm>
          <a:prstGeom prst="ellipse">
            <a:avLst/>
          </a:prstGeom>
          <a:solidFill>
            <a:srgbClr val="10A99A"/>
          </a:solidFill>
          <a:ln w="1270">
            <a:solidFill>
              <a:srgbClr val="10A99A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33272" y="4270248"/>
            <a:ext cx="45994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72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 financeiros e evolução temporal.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877824" y="4997196"/>
            <a:ext cx="68580" cy="68580"/>
          </a:xfrm>
          <a:prstGeom prst="ellipse">
            <a:avLst/>
          </a:prstGeom>
          <a:solidFill>
            <a:srgbClr val="10A99A"/>
          </a:solidFill>
          <a:ln w="1270">
            <a:solidFill>
              <a:srgbClr val="10A99A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33272" y="4892040"/>
            <a:ext cx="45994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72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Protótipo de painel e alertas explicáveis, com revisão humana.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291072" y="1755648"/>
            <a:ext cx="5340096" cy="422452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91072" y="1755648"/>
            <a:ext cx="50292" cy="4224528"/>
          </a:xfrm>
          <a:prstGeom prst="rect">
            <a:avLst/>
          </a:prstGeom>
          <a:solidFill>
            <a:srgbClr val="E9954B"/>
          </a:solidFill>
          <a:ln w="1270">
            <a:solidFill>
              <a:srgbClr val="E9954B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0" y="20116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40" dirty="0">
                <a:solidFill>
                  <a:srgbClr val="E99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PROMETER SEM VALIDAÇÃO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01968" y="2592324"/>
            <a:ext cx="68580" cy="68580"/>
          </a:xfrm>
          <a:prstGeom prst="ellipse">
            <a:avLst/>
          </a:prstGeom>
          <a:solidFill>
            <a:srgbClr val="E9954B"/>
          </a:solidFill>
          <a:ln w="1270">
            <a:solidFill>
              <a:srgbClr val="E9954B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57416" y="2487168"/>
            <a:ext cx="4462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Substituir o sistema de gestão da academia.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01968" y="3351276"/>
            <a:ext cx="68580" cy="68580"/>
          </a:xfrm>
          <a:prstGeom prst="ellipse">
            <a:avLst/>
          </a:prstGeom>
          <a:solidFill>
            <a:srgbClr val="E9954B"/>
          </a:solidFill>
          <a:ln w="1270">
            <a:solidFill>
              <a:srgbClr val="E9954B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57416" y="3246120"/>
            <a:ext cx="4462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Enviar mensagens automáticas sem autorização e integração.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01968" y="4110228"/>
            <a:ext cx="68580" cy="68580"/>
          </a:xfrm>
          <a:prstGeom prst="ellipse">
            <a:avLst/>
          </a:prstGeom>
          <a:solidFill>
            <a:srgbClr val="E9954B"/>
          </a:solidFill>
          <a:ln w="1270">
            <a:solidFill>
              <a:srgbClr val="E9954B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57416" y="4005072"/>
            <a:ext cx="4462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Tomar decisões ou aplicar punições automaticamente.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01968" y="4869180"/>
            <a:ext cx="68580" cy="68580"/>
          </a:xfrm>
          <a:prstGeom prst="ellipse">
            <a:avLst/>
          </a:prstGeom>
          <a:solidFill>
            <a:srgbClr val="E9954B"/>
          </a:solidFill>
          <a:ln w="1270">
            <a:solidFill>
              <a:srgbClr val="E9954B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57416" y="4764024"/>
            <a:ext cx="4462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72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Afirmar previsão por IA sem histórico e teste temporal adequados.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65392" y="5504688"/>
            <a:ext cx="4754880" cy="310896"/>
          </a:xfrm>
          <a:prstGeom prst="roundRect">
            <a:avLst>
              <a:gd name="adj" fmla="val 35294"/>
            </a:avLst>
          </a:prstGeom>
          <a:solidFill>
            <a:srgbClr val="FFF0E2"/>
          </a:solidFill>
          <a:ln w="1270">
            <a:solidFill>
              <a:srgbClr val="FFF0E2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93408" y="5541264"/>
            <a:ext cx="4498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9457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é condicional; regras claras já podem gerar valor.</a:t>
            </a:r>
            <a:endParaRPr lang="en-US" sz="106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878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91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40" dirty="0">
                <a:solidFill>
                  <a:srgbClr val="10A9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DADOS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disponibilidade é conhecida em parte; volume e semântica ainda precisam ser confirmados.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períodos abaixo são os registrados no levantamento inicial do escopo de inadimplência.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55648"/>
            <a:ext cx="6419088" cy="4352544"/>
          </a:xfrm>
          <a:prstGeom prst="roundRect">
            <a:avLst>
              <a:gd name="adj" fmla="val 2521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55648"/>
            <a:ext cx="50292" cy="4352544"/>
          </a:xfrm>
          <a:prstGeom prst="rect">
            <a:avLst/>
          </a:prstGeom>
          <a:solidFill>
            <a:srgbClr val="10A99A"/>
          </a:solidFill>
          <a:ln w="1270">
            <a:solidFill>
              <a:srgbClr val="10A99A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19933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40" dirty="0">
                <a:solidFill>
                  <a:srgbClr val="10A9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LEVANTAMENTO INICIAL - INADIMPLÊNCIA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350008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1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Cadastro de alunos</a:t>
            </a:r>
            <a:endParaRPr lang="en-US" sz="1130" dirty="0"/>
          </a:p>
        </p:txBody>
      </p:sp>
      <p:sp>
        <p:nvSpPr>
          <p:cNvPr id="9" name="Text 7"/>
          <p:cNvSpPr txBox="1"/>
          <p:nvPr/>
        </p:nvSpPr>
        <p:spPr>
          <a:xfrm>
            <a:off x="2770632" y="2350008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Contagem não informada · dados pessoais; minimizar e pseudonimizar.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859536" y="2944368"/>
            <a:ext cx="5779008" cy="0"/>
          </a:xfrm>
          <a:prstGeom prst="line">
            <a:avLst/>
          </a:prstGeom>
          <a:solidFill>
            <a:srgbClr val="D8E1EA"/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" y="301752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1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Cobranças / parcelas</a:t>
            </a:r>
            <a:endParaRPr lang="en-US" sz="1130" dirty="0"/>
          </a:p>
        </p:txBody>
      </p:sp>
      <p:sp>
        <p:nvSpPr>
          <p:cNvPr id="12" name="Text 10"/>
          <p:cNvSpPr txBox="1"/>
          <p:nvPr/>
        </p:nvSpPr>
        <p:spPr>
          <a:xfrm>
            <a:off x="2770632" y="301752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15/10/2024 a 15/10/2026 · validar datas, valores e status.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859536" y="3611880"/>
            <a:ext cx="5779008" cy="0"/>
          </a:xfrm>
          <a:prstGeom prst="line">
            <a:avLst/>
          </a:prstGeom>
          <a:solidFill>
            <a:srgbClr val="D8E1EA"/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" y="3685032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1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Acessos</a:t>
            </a:r>
            <a:endParaRPr lang="en-US" sz="1130" dirty="0"/>
          </a:p>
        </p:txBody>
      </p:sp>
      <p:sp>
        <p:nvSpPr>
          <p:cNvPr id="15" name="Text 13"/>
          <p:cNvSpPr txBox="1"/>
          <p:nvPr/>
        </p:nvSpPr>
        <p:spPr>
          <a:xfrm>
            <a:off x="2770632" y="3685032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15/09/2026 a 15/10/2026 · janela de cerca de 1 mês.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859536" y="4279392"/>
            <a:ext cx="5779008" cy="0"/>
          </a:xfrm>
          <a:prstGeom prst="line">
            <a:avLst/>
          </a:prstGeom>
          <a:solidFill>
            <a:srgbClr val="D8E1EA"/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9536" y="4352544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1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Tentativas de pagamento</a:t>
            </a:r>
            <a:endParaRPr lang="en-US" sz="1130" dirty="0"/>
          </a:p>
        </p:txBody>
      </p:sp>
      <p:sp>
        <p:nvSpPr>
          <p:cNvPr id="18" name="Text 16"/>
          <p:cNvSpPr txBox="1"/>
          <p:nvPr/>
        </p:nvSpPr>
        <p:spPr>
          <a:xfrm>
            <a:off x="2770632" y="4352544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Aprox. desde 15/08/2026 · cerca de 3 meses; validar vínculo com cobrança.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859536" y="4946904"/>
            <a:ext cx="5779008" cy="0"/>
          </a:xfrm>
          <a:prstGeom prst="line">
            <a:avLst/>
          </a:prstGeom>
          <a:solidFill>
            <a:srgbClr val="D8E1EA"/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9536" y="5020056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1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Contratos / mudanças de plano</a:t>
            </a:r>
            <a:endParaRPr lang="en-US" sz="1130" dirty="0"/>
          </a:p>
        </p:txBody>
      </p:sp>
      <p:sp>
        <p:nvSpPr>
          <p:cNvPr id="21" name="Text 19"/>
          <p:cNvSpPr txBox="1"/>
          <p:nvPr/>
        </p:nvSpPr>
        <p:spPr>
          <a:xfrm>
            <a:off x="2770632" y="5020056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Histórico não localizado até o momento.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7223760" y="1755648"/>
            <a:ext cx="4407408" cy="2798064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23760" y="1755648"/>
            <a:ext cx="50292" cy="2798064"/>
          </a:xfrm>
          <a:prstGeom prst="rect">
            <a:avLst/>
          </a:prstGeom>
          <a:solidFill>
            <a:srgbClr val="5C7CFA"/>
          </a:solidFill>
          <a:ln w="1270">
            <a:solidFill>
              <a:srgbClr val="5C7CFA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79792" y="19933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40" dirty="0">
                <a:solidFill>
                  <a:srgbClr val="5C7C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DESCRITA NO ESTUDO ANTERIOR DE CHURN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7479792" y="239572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4.364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7479792" y="2779776"/>
            <a:ext cx="1755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alunos únicos</a:t>
            </a:r>
            <a:endParaRPr lang="en-US" sz="1020" dirty="0"/>
          </a:p>
        </p:txBody>
      </p:sp>
      <p:sp>
        <p:nvSpPr>
          <p:cNvPr id="27" name="Text 25"/>
          <p:cNvSpPr txBox="1"/>
          <p:nvPr/>
        </p:nvSpPr>
        <p:spPr>
          <a:xfrm>
            <a:off x="9473184" y="239572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8.489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9473184" y="2779776"/>
            <a:ext cx="1755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contratos</a:t>
            </a:r>
            <a:endParaRPr lang="en-US" sz="1020" dirty="0"/>
          </a:p>
        </p:txBody>
      </p:sp>
      <p:sp>
        <p:nvSpPr>
          <p:cNvPr id="29" name="Text 27"/>
          <p:cNvSpPr txBox="1"/>
          <p:nvPr/>
        </p:nvSpPr>
        <p:spPr>
          <a:xfrm>
            <a:off x="7479792" y="331927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71.321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7479792" y="3703320"/>
            <a:ext cx="1755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parcelas</a:t>
            </a:r>
            <a:endParaRPr lang="en-US" sz="1020" dirty="0"/>
          </a:p>
        </p:txBody>
      </p:sp>
      <p:sp>
        <p:nvSpPr>
          <p:cNvPr id="31" name="Text 29"/>
          <p:cNvSpPr txBox="1"/>
          <p:nvPr/>
        </p:nvSpPr>
        <p:spPr>
          <a:xfrm>
            <a:off x="9473184" y="331927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2022-2026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9473184" y="3703320"/>
            <a:ext cx="1755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janela histórica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7223760" y="4754880"/>
            <a:ext cx="4407408" cy="1353312"/>
          </a:xfrm>
          <a:prstGeom prst="roundRect">
            <a:avLst>
              <a:gd name="adj" fmla="val 8108"/>
            </a:avLst>
          </a:prstGeom>
          <a:solidFill>
            <a:srgbClr val="E9EEFF"/>
          </a:solidFill>
          <a:ln w="1270">
            <a:solidFill>
              <a:srgbClr val="E9EEFF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79792" y="49560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F57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Atenção ao escopo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479792" y="5266944"/>
            <a:ext cx="39136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2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números acima vêm do experimento de churn do arquivo anterior. Confirmar se correspondem à mesma extração autorizada e não os confundir com contagens validadas do escopo de inadimplência.</a:t>
            </a:r>
            <a:endParaRPr lang="en-US" sz="107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878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91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40" dirty="0">
                <a:solidFill>
                  <a:srgbClr val="10A9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AVANÇOS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Separar o que já foi feito do que ainda não foi demonstrado.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documentação contém um experimento anterior de churn e um plano atualizado para prevenção da inadimplência.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92224"/>
            <a:ext cx="3547872" cy="4279392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92224"/>
            <a:ext cx="50292" cy="4279392"/>
          </a:xfrm>
          <a:prstGeom prst="rect">
            <a:avLst/>
          </a:prstGeom>
          <a:solidFill>
            <a:srgbClr val="287D68"/>
          </a:solidFill>
          <a:ln w="1270">
            <a:solidFill>
              <a:srgbClr val="287D6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11680"/>
            <a:ext cx="1024128" cy="292608"/>
          </a:xfrm>
          <a:prstGeom prst="roundRect">
            <a:avLst>
              <a:gd name="adj" fmla="val 37500"/>
            </a:avLst>
          </a:prstGeom>
          <a:solidFill>
            <a:srgbClr val="E0F4EC"/>
          </a:solidFill>
          <a:ln w="1270">
            <a:solidFill>
              <a:srgbClr val="E0F4EC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2025396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87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PRONTO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32304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Experimento anterior de churn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150108"/>
            <a:ext cx="68580" cy="68580"/>
          </a:xfrm>
          <a:prstGeom prst="ellipse">
            <a:avLst/>
          </a:prstGeom>
          <a:solidFill>
            <a:srgbClr val="287D68"/>
          </a:solidFill>
          <a:ln w="1270">
            <a:solidFill>
              <a:srgbClr val="287D68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96696" y="3044952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172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Limpeza, padronização e anonimização da base.</a:t>
            </a:r>
            <a:endParaRPr lang="en-US" sz="1090" dirty="0"/>
          </a:p>
        </p:txBody>
      </p:sp>
      <p:sp>
        <p:nvSpPr>
          <p:cNvPr id="12" name="Shape 10"/>
          <p:cNvSpPr/>
          <p:nvPr/>
        </p:nvSpPr>
        <p:spPr>
          <a:xfrm>
            <a:off x="841248" y="3735324"/>
            <a:ext cx="68580" cy="68580"/>
          </a:xfrm>
          <a:prstGeom prst="ellipse">
            <a:avLst/>
          </a:prstGeom>
          <a:solidFill>
            <a:srgbClr val="287D68"/>
          </a:solidFill>
          <a:ln w="1270">
            <a:solidFill>
              <a:srgbClr val="287D68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96696" y="3630168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172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Engenharia de atributos: 4.364 linhas e 12 colunas.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841248" y="4320540"/>
            <a:ext cx="68580" cy="68580"/>
          </a:xfrm>
          <a:prstGeom prst="ellipse">
            <a:avLst/>
          </a:prstGeom>
          <a:solidFill>
            <a:srgbClr val="287D68"/>
          </a:solidFill>
          <a:ln w="1270">
            <a:solidFill>
              <a:srgbClr val="287D68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96696" y="4215384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172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Comparação de 5 classificadores.</a:t>
            </a:r>
            <a:endParaRPr lang="en-US" sz="1090" dirty="0"/>
          </a:p>
        </p:txBody>
      </p:sp>
      <p:sp>
        <p:nvSpPr>
          <p:cNvPr id="16" name="Shape 14"/>
          <p:cNvSpPr/>
          <p:nvPr/>
        </p:nvSpPr>
        <p:spPr>
          <a:xfrm>
            <a:off x="822960" y="4809744"/>
            <a:ext cx="2999232" cy="859536"/>
          </a:xfrm>
          <a:prstGeom prst="roundRect">
            <a:avLst>
              <a:gd name="adj" fmla="val 12766"/>
            </a:avLst>
          </a:prstGeom>
          <a:solidFill>
            <a:srgbClr val="E0F4EC"/>
          </a:solidFill>
          <a:ln w="1270">
            <a:solidFill>
              <a:srgbClr val="E0F4EC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" y="492861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7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XGBoost: ROC-AUC 0,849 · F1 0,731 · recall 0,773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15968" y="1792224"/>
            <a:ext cx="3547872" cy="4279392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15968" y="1792224"/>
            <a:ext cx="50292" cy="4279392"/>
          </a:xfrm>
          <a:prstGeom prst="rect">
            <a:avLst/>
          </a:prstGeom>
          <a:solidFill>
            <a:srgbClr val="E9954B"/>
          </a:solidFill>
          <a:ln w="1270">
            <a:solidFill>
              <a:srgbClr val="E9954B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011680"/>
            <a:ext cx="1600200" cy="292608"/>
          </a:xfrm>
          <a:prstGeom prst="roundRect">
            <a:avLst>
              <a:gd name="adj" fmla="val 37500"/>
            </a:avLst>
          </a:prstGeom>
          <a:solidFill>
            <a:srgbClr val="FFF0E2"/>
          </a:solidFill>
          <a:ln w="1270">
            <a:solidFill>
              <a:srgbClr val="FFF0E2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45152" y="2025396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57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ANDAMENTO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2432304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Escopo atual de inadimplência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90288" y="3150108"/>
            <a:ext cx="68580" cy="68580"/>
          </a:xfrm>
          <a:prstGeom prst="ellipse">
            <a:avLst/>
          </a:prstGeom>
          <a:solidFill>
            <a:srgbClr val="E9954B"/>
          </a:solidFill>
          <a:ln w="1270">
            <a:solidFill>
              <a:srgbClr val="E9954B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45736" y="3044952"/>
            <a:ext cx="2816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172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campos, status e identificadores entre arquivos.</a:t>
            </a:r>
            <a:endParaRPr lang="en-US" sz="1090" dirty="0"/>
          </a:p>
        </p:txBody>
      </p:sp>
      <p:sp>
        <p:nvSpPr>
          <p:cNvPr id="25" name="Shape 23"/>
          <p:cNvSpPr/>
          <p:nvPr/>
        </p:nvSpPr>
        <p:spPr>
          <a:xfrm>
            <a:off x="4590288" y="3790188"/>
            <a:ext cx="68580" cy="68580"/>
          </a:xfrm>
          <a:prstGeom prst="ellipse">
            <a:avLst/>
          </a:prstGeom>
          <a:solidFill>
            <a:srgbClr val="E9954B"/>
          </a:solidFill>
          <a:ln w="1270">
            <a:solidFill>
              <a:srgbClr val="E9954B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45736" y="3685032"/>
            <a:ext cx="2816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172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indicadores e denominadores com a academia.</a:t>
            </a:r>
            <a:endParaRPr lang="en-US" sz="1090" dirty="0"/>
          </a:p>
        </p:txBody>
      </p:sp>
      <p:sp>
        <p:nvSpPr>
          <p:cNvPr id="27" name="Shape 25"/>
          <p:cNvSpPr/>
          <p:nvPr/>
        </p:nvSpPr>
        <p:spPr>
          <a:xfrm>
            <a:off x="4590288" y="4430268"/>
            <a:ext cx="68580" cy="68580"/>
          </a:xfrm>
          <a:prstGeom prst="ellipse">
            <a:avLst/>
          </a:prstGeom>
          <a:solidFill>
            <a:srgbClr val="E9954B"/>
          </a:solidFill>
          <a:ln w="1270">
            <a:solidFill>
              <a:srgbClr val="E9954B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45736" y="4325112"/>
            <a:ext cx="2816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172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cálculos em amostra autorizada.</a:t>
            </a:r>
            <a:endParaRPr lang="en-US" sz="1090" dirty="0"/>
          </a:p>
        </p:txBody>
      </p:sp>
      <p:sp>
        <p:nvSpPr>
          <p:cNvPr id="29" name="Text 27"/>
          <p:cNvSpPr txBox="1"/>
          <p:nvPr/>
        </p:nvSpPr>
        <p:spPr>
          <a:xfrm>
            <a:off x="4590288" y="5074920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i="1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relatório atual ainda descreve essas tarefas como verificações necessárias.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8065008" y="1792224"/>
            <a:ext cx="3547872" cy="4279392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65008" y="1792224"/>
            <a:ext cx="50292" cy="4279392"/>
          </a:xfrm>
          <a:prstGeom prst="rect">
            <a:avLst/>
          </a:prstGeom>
          <a:solidFill>
            <a:srgbClr val="5C7CFA"/>
          </a:solidFill>
          <a:ln w="1270">
            <a:solidFill>
              <a:srgbClr val="5C7CFA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2011680"/>
            <a:ext cx="1188720" cy="292608"/>
          </a:xfrm>
          <a:prstGeom prst="roundRect">
            <a:avLst>
              <a:gd name="adj" fmla="val 37500"/>
            </a:avLst>
          </a:prstGeom>
          <a:solidFill>
            <a:srgbClr val="E9EEFF"/>
          </a:solidFill>
          <a:ln w="1270">
            <a:solidFill>
              <a:srgbClr val="E9EE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94192" y="2025396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57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PROPOSTA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2432304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Entregas do semestre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39328" y="3150108"/>
            <a:ext cx="68580" cy="68580"/>
          </a:xfrm>
          <a:prstGeom prst="ellipse">
            <a:avLst/>
          </a:prstGeom>
          <a:solidFill>
            <a:srgbClr val="5C7CFA"/>
          </a:solidFill>
          <a:ln w="1270">
            <a:solidFill>
              <a:srgbClr val="5C7CFA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494776" y="3044952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172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reproduzível e dicionário de dados.</a:t>
            </a:r>
            <a:endParaRPr lang="en-US" sz="1090" dirty="0"/>
          </a:p>
        </p:txBody>
      </p:sp>
      <p:sp>
        <p:nvSpPr>
          <p:cNvPr id="37" name="Shape 35"/>
          <p:cNvSpPr/>
          <p:nvPr/>
        </p:nvSpPr>
        <p:spPr>
          <a:xfrm>
            <a:off x="8339328" y="3735324"/>
            <a:ext cx="68580" cy="68580"/>
          </a:xfrm>
          <a:prstGeom prst="ellipse">
            <a:avLst/>
          </a:prstGeom>
          <a:solidFill>
            <a:srgbClr val="5C7CFA"/>
          </a:solidFill>
          <a:ln w="1270">
            <a:solidFill>
              <a:srgbClr val="5C7CFA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494776" y="3630168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172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Painel financeiro com tendência temporal.</a:t>
            </a:r>
            <a:endParaRPr lang="en-US" sz="1090" dirty="0"/>
          </a:p>
        </p:txBody>
      </p:sp>
      <p:sp>
        <p:nvSpPr>
          <p:cNvPr id="39" name="Shape 37"/>
          <p:cNvSpPr/>
          <p:nvPr/>
        </p:nvSpPr>
        <p:spPr>
          <a:xfrm>
            <a:off x="8339328" y="4320540"/>
            <a:ext cx="68580" cy="68580"/>
          </a:xfrm>
          <a:prstGeom prst="ellipse">
            <a:avLst/>
          </a:prstGeom>
          <a:solidFill>
            <a:srgbClr val="5C7CFA"/>
          </a:solidFill>
          <a:ln w="1270">
            <a:solidFill>
              <a:srgbClr val="5C7CFA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494776" y="4215384"/>
            <a:ext cx="2816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172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 explicáveis e registro de ações, conforme escopo validado.</a:t>
            </a:r>
            <a:endParaRPr lang="en-US" sz="1090" dirty="0"/>
          </a:p>
        </p:txBody>
      </p:sp>
      <p:sp>
        <p:nvSpPr>
          <p:cNvPr id="41" name="Shape 39"/>
          <p:cNvSpPr/>
          <p:nvPr/>
        </p:nvSpPr>
        <p:spPr>
          <a:xfrm>
            <a:off x="8339328" y="5070348"/>
            <a:ext cx="68580" cy="68580"/>
          </a:xfrm>
          <a:prstGeom prst="ellipse">
            <a:avLst/>
          </a:prstGeom>
          <a:solidFill>
            <a:srgbClr val="5C7CFA"/>
          </a:solidFill>
          <a:ln w="1270">
            <a:solidFill>
              <a:srgbClr val="5C7CFA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494776" y="496519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172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de risco apenas se houver dados suficientes.</a:t>
            </a:r>
            <a:endParaRPr lang="en-US" sz="1090" dirty="0"/>
          </a:p>
        </p:txBody>
      </p:sp>
      <p:sp>
        <p:nvSpPr>
          <p:cNvPr id="43" name="Text 41"/>
          <p:cNvSpPr txBox="1"/>
          <p:nvPr/>
        </p:nvSpPr>
        <p:spPr>
          <a:xfrm>
            <a:off x="603504" y="6144768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B84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Nota: as métricas mostradas são de churn, não de inadimplência; a amostra tem limitações reconhecidas.</a:t>
            </a:r>
            <a:endParaRPr lang="en-US" sz="10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878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91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40" dirty="0">
                <a:solidFill>
                  <a:srgbClr val="10A9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SOLUÇÃO PROPOSTA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 fluxo explicável - da exportação à ação humana.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protótipo complementa o sistema da academia e cria rastreabilidade do alerta ao desfecho.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2267712"/>
            <a:ext cx="1847088" cy="1682496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267712"/>
            <a:ext cx="50292" cy="1682496"/>
          </a:xfrm>
          <a:prstGeom prst="rect">
            <a:avLst/>
          </a:prstGeom>
          <a:solidFill>
            <a:srgbClr val="10A99A"/>
          </a:solidFill>
          <a:ln w="1270">
            <a:solidFill>
              <a:srgbClr val="10A99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478024"/>
            <a:ext cx="365760" cy="365760"/>
          </a:xfrm>
          <a:prstGeom prst="ellipse">
            <a:avLst/>
          </a:prstGeom>
          <a:solidFill>
            <a:srgbClr val="10A99A"/>
          </a:solidFill>
          <a:ln w="1270">
            <a:solidFill>
              <a:srgbClr val="10A99A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50545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971800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374136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/ Excel autorizado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2514600" y="2852928"/>
            <a:ext cx="256032" cy="384048"/>
          </a:xfrm>
          <a:prstGeom prst="chevron">
            <a:avLst/>
          </a:prstGeom>
          <a:solidFill>
            <a:srgbClr val="A7BACB">
              <a:alpha val="96000"/>
            </a:srgbClr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1216" y="2267712"/>
            <a:ext cx="1847088" cy="1682496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1216" y="2267712"/>
            <a:ext cx="50292" cy="1682496"/>
          </a:xfrm>
          <a:prstGeom prst="rect">
            <a:avLst/>
          </a:prstGeom>
          <a:solidFill>
            <a:srgbClr val="10A99A"/>
          </a:solidFill>
          <a:ln w="1270">
            <a:solidFill>
              <a:srgbClr val="10A99A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35808" y="2478024"/>
            <a:ext cx="365760" cy="365760"/>
          </a:xfrm>
          <a:prstGeom prst="ellipse">
            <a:avLst/>
          </a:prstGeom>
          <a:solidFill>
            <a:srgbClr val="10A99A"/>
          </a:solidFill>
          <a:ln w="1270">
            <a:solidFill>
              <a:srgbClr val="10A99A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35808" y="250545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035808" y="2971800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035808" y="3374136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Datas, status, valores, IDs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4818888" y="2852928"/>
            <a:ext cx="256032" cy="384048"/>
          </a:xfrm>
          <a:prstGeom prst="chevron">
            <a:avLst/>
          </a:prstGeom>
          <a:solidFill>
            <a:srgbClr val="A7BACB">
              <a:alpha val="96000"/>
            </a:srgbClr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75504" y="2267712"/>
            <a:ext cx="1847088" cy="1682496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75504" y="2267712"/>
            <a:ext cx="50292" cy="1682496"/>
          </a:xfrm>
          <a:prstGeom prst="rect">
            <a:avLst/>
          </a:prstGeom>
          <a:solidFill>
            <a:srgbClr val="10A99A"/>
          </a:solidFill>
          <a:ln w="1270">
            <a:solidFill>
              <a:srgbClr val="10A99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40096" y="2478024"/>
            <a:ext cx="365760" cy="365760"/>
          </a:xfrm>
          <a:prstGeom prst="ellipse">
            <a:avLst/>
          </a:prstGeom>
          <a:solidFill>
            <a:srgbClr val="10A99A"/>
          </a:solidFill>
          <a:ln w="1270">
            <a:solidFill>
              <a:srgbClr val="10A99A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40096" y="250545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340096" y="2971800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40096" y="3374136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Regras e indicadores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7123176" y="2852928"/>
            <a:ext cx="256032" cy="384048"/>
          </a:xfrm>
          <a:prstGeom prst="chevron">
            <a:avLst/>
          </a:prstGeom>
          <a:solidFill>
            <a:srgbClr val="A7BACB">
              <a:alpha val="96000"/>
            </a:srgbClr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79792" y="2267712"/>
            <a:ext cx="1847088" cy="1682496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79792" y="2267712"/>
            <a:ext cx="50292" cy="1682496"/>
          </a:xfrm>
          <a:prstGeom prst="rect">
            <a:avLst/>
          </a:prstGeom>
          <a:solidFill>
            <a:srgbClr val="10A99A"/>
          </a:solidFill>
          <a:ln w="1270">
            <a:solidFill>
              <a:srgbClr val="10A99A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44384" y="2478024"/>
            <a:ext cx="365760" cy="365760"/>
          </a:xfrm>
          <a:prstGeom prst="ellipse">
            <a:avLst/>
          </a:prstGeom>
          <a:solidFill>
            <a:srgbClr val="10A99A"/>
          </a:solidFill>
          <a:ln w="1270">
            <a:solidFill>
              <a:srgbClr val="10A99A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44384" y="250545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644384" y="2971800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Sinalizar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644384" y="3374136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Motivo e prioridade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9427464" y="2852928"/>
            <a:ext cx="256032" cy="384048"/>
          </a:xfrm>
          <a:prstGeom prst="chevron">
            <a:avLst/>
          </a:prstGeom>
          <a:solidFill>
            <a:srgbClr val="A7BACB">
              <a:alpha val="96000"/>
            </a:srgbClr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84080" y="2267712"/>
            <a:ext cx="1847088" cy="1682496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2267712"/>
            <a:ext cx="50292" cy="1682496"/>
          </a:xfrm>
          <a:prstGeom prst="rect">
            <a:avLst/>
          </a:prstGeom>
          <a:solidFill>
            <a:srgbClr val="E9954B"/>
          </a:solidFill>
          <a:ln w="1270">
            <a:solidFill>
              <a:srgbClr val="E9954B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948672" y="2478024"/>
            <a:ext cx="365760" cy="365760"/>
          </a:xfrm>
          <a:prstGeom prst="ellipse">
            <a:avLst/>
          </a:prstGeom>
          <a:solidFill>
            <a:srgbClr val="E9954B"/>
          </a:solidFill>
          <a:ln w="1270">
            <a:solidFill>
              <a:srgbClr val="E9954B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948672" y="250545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948672" y="2971800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Acompanhar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9948672" y="3374136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Revisão humana e desfecho</a:t>
            </a:r>
            <a:endParaRPr lang="en-US" sz="1030" dirty="0"/>
          </a:p>
        </p:txBody>
      </p:sp>
      <p:sp>
        <p:nvSpPr>
          <p:cNvPr id="39" name="Shape 37"/>
          <p:cNvSpPr/>
          <p:nvPr/>
        </p:nvSpPr>
        <p:spPr>
          <a:xfrm>
            <a:off x="566928" y="4416552"/>
            <a:ext cx="68122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6928" y="4416552"/>
            <a:ext cx="50292" cy="1097280"/>
          </a:xfrm>
          <a:prstGeom prst="rect">
            <a:avLst/>
          </a:prstGeom>
          <a:solidFill>
            <a:srgbClr val="287D68"/>
          </a:solidFill>
          <a:ln w="1270">
            <a:solidFill>
              <a:srgbClr val="287D68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32104" y="46268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87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 de confiança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32104" y="4965192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72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alerta mostra o motivo, a regra aplicada e o dado a conferir - não apenas uma nota ou probabilidade.</a:t>
            </a:r>
            <a:endParaRPr lang="en-US" sz="1220" dirty="0"/>
          </a:p>
        </p:txBody>
      </p:sp>
      <p:sp>
        <p:nvSpPr>
          <p:cNvPr id="43" name="Shape 41"/>
          <p:cNvSpPr/>
          <p:nvPr/>
        </p:nvSpPr>
        <p:spPr>
          <a:xfrm>
            <a:off x="7626096" y="4416552"/>
            <a:ext cx="4005072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26096" y="4416552"/>
            <a:ext cx="50292" cy="1097280"/>
          </a:xfrm>
          <a:prstGeom prst="rect">
            <a:avLst/>
          </a:prstGeom>
          <a:solidFill>
            <a:srgbClr val="E9954B"/>
          </a:solidFill>
          <a:ln w="1270">
            <a:solidFill>
              <a:srgbClr val="E9954B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882128" y="4626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57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Proteção e responsabilidade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7882128" y="496519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172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punição automática. Conferir pagamento, acordo e estorno antes de qualquer contato.</a:t>
            </a:r>
            <a:endParaRPr lang="en-US" sz="1090" dirty="0"/>
          </a:p>
        </p:txBody>
      </p:sp>
      <p:sp>
        <p:nvSpPr>
          <p:cNvPr id="47" name="Text 45"/>
          <p:cNvSpPr txBox="1"/>
          <p:nvPr/>
        </p:nvSpPr>
        <p:spPr>
          <a:xfrm>
            <a:off x="603504" y="589788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i="1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entra somente se o histórico sustentar teste temporal, comparação com regra simples e avaliação de falsos positivos.</a:t>
            </a:r>
            <a:endParaRPr lang="en-US" sz="108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878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91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40" dirty="0">
                <a:solidFill>
                  <a:srgbClr val="10A9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REPOSITÓRIO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GitHub deve estar aberto na apresentação.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endereço do repositório não aparece nos materiais recebidos: inserir o link real antes de apresentar.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4736592" cy="4160520"/>
          </a:xfrm>
          <a:prstGeom prst="roundRect">
            <a:avLst>
              <a:gd name="adj" fmla="val 2637"/>
            </a:avLst>
          </a:prstGeom>
          <a:solidFill>
            <a:srgbClr val="11243A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810512"/>
            <a:ext cx="50292" cy="4160520"/>
          </a:xfrm>
          <a:prstGeom prst="rect">
            <a:avLst/>
          </a:prstGeom>
          <a:solidFill>
            <a:srgbClr val="10A99A"/>
          </a:solidFill>
          <a:ln w="1270">
            <a:solidFill>
              <a:srgbClr val="10A99A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21396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40" dirty="0">
                <a:solidFill>
                  <a:srgbClr val="8EDD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AO VIVO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542032"/>
            <a:ext cx="39502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[LINK REAL DO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REPOSITÓRIO GITHUB]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379476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3D3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README.md · estrutura do projeto · instruções de execução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77824" y="4800600"/>
            <a:ext cx="3840480" cy="521208"/>
          </a:xfrm>
          <a:prstGeom prst="roundRect">
            <a:avLst>
              <a:gd name="adj" fmla="val 21053"/>
            </a:avLst>
          </a:prstGeom>
          <a:solidFill>
            <a:srgbClr val="1F4059"/>
          </a:solidFill>
          <a:ln w="1270">
            <a:solidFill>
              <a:srgbClr val="1F4059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4128" y="490118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D6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publicar dados reais ou identificáveis.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5559552" y="1810512"/>
            <a:ext cx="6071616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59552" y="1810512"/>
            <a:ext cx="50292" cy="4160520"/>
          </a:xfrm>
          <a:prstGeom prst="rect">
            <a:avLst/>
          </a:prstGeom>
          <a:solidFill>
            <a:srgbClr val="5C7CFA"/>
          </a:solidFill>
          <a:ln w="1270">
            <a:solidFill>
              <a:srgbClr val="5C7CFA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52160" y="21396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40" dirty="0">
                <a:solidFill>
                  <a:srgbClr val="5C7C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ESTRUTURA MÍNIMA SUGERIDA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870448" y="2523744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README.md</a:t>
            </a:r>
            <a:endParaRPr lang="en-US" sz="1080" dirty="0"/>
          </a:p>
        </p:txBody>
      </p:sp>
      <p:sp>
        <p:nvSpPr>
          <p:cNvPr id="16" name="Text 14"/>
          <p:cNvSpPr txBox="1"/>
          <p:nvPr/>
        </p:nvSpPr>
        <p:spPr>
          <a:xfrm>
            <a:off x="8156448" y="25237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objetivo, instalação, uso, limites e contato</a:t>
            </a:r>
            <a:endParaRPr lang="en-US" sz="1010" dirty="0"/>
          </a:p>
        </p:txBody>
      </p:sp>
      <p:sp>
        <p:nvSpPr>
          <p:cNvPr id="17" name="Text 15"/>
          <p:cNvSpPr txBox="1"/>
          <p:nvPr/>
        </p:nvSpPr>
        <p:spPr>
          <a:xfrm>
            <a:off x="5870448" y="2962656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</a:t>
            </a:r>
            <a:endParaRPr lang="en-US" sz="1080" dirty="0"/>
          </a:p>
        </p:txBody>
      </p:sp>
      <p:sp>
        <p:nvSpPr>
          <p:cNvPr id="18" name="Text 16"/>
          <p:cNvSpPr txBox="1"/>
          <p:nvPr/>
        </p:nvSpPr>
        <p:spPr>
          <a:xfrm>
            <a:off x="8156448" y="29626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importação, validação e indicadores</a:t>
            </a:r>
            <a:endParaRPr lang="en-US" sz="1010" dirty="0"/>
          </a:p>
        </p:txBody>
      </p:sp>
      <p:sp>
        <p:nvSpPr>
          <p:cNvPr id="19" name="Text 17"/>
          <p:cNvSpPr txBox="1"/>
          <p:nvPr/>
        </p:nvSpPr>
        <p:spPr>
          <a:xfrm>
            <a:off x="5870448" y="3401568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notebooks/</a:t>
            </a:r>
            <a:endParaRPr lang="en-US" sz="1080" dirty="0"/>
          </a:p>
        </p:txBody>
      </p:sp>
      <p:sp>
        <p:nvSpPr>
          <p:cNvPr id="20" name="Text 18"/>
          <p:cNvSpPr txBox="1"/>
          <p:nvPr/>
        </p:nvSpPr>
        <p:spPr>
          <a:xfrm>
            <a:off x="8156448" y="34015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exploração reproduzível, sem PII</a:t>
            </a:r>
            <a:endParaRPr lang="en-US" sz="1010" dirty="0"/>
          </a:p>
        </p:txBody>
      </p:sp>
      <p:sp>
        <p:nvSpPr>
          <p:cNvPr id="21" name="Text 19"/>
          <p:cNvSpPr txBox="1"/>
          <p:nvPr/>
        </p:nvSpPr>
        <p:spPr>
          <a:xfrm>
            <a:off x="5870448" y="3840480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</a:t>
            </a:r>
            <a:endParaRPr lang="en-US" sz="1080" dirty="0"/>
          </a:p>
        </p:txBody>
      </p:sp>
      <p:sp>
        <p:nvSpPr>
          <p:cNvPr id="22" name="Text 20"/>
          <p:cNvSpPr txBox="1"/>
          <p:nvPr/>
        </p:nvSpPr>
        <p:spPr>
          <a:xfrm>
            <a:off x="8156448" y="3840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dicionário de dados e regras financeiras</a:t>
            </a:r>
            <a:endParaRPr lang="en-US" sz="1010" dirty="0"/>
          </a:p>
        </p:txBody>
      </p:sp>
      <p:sp>
        <p:nvSpPr>
          <p:cNvPr id="23" name="Text 21"/>
          <p:cNvSpPr txBox="1"/>
          <p:nvPr/>
        </p:nvSpPr>
        <p:spPr>
          <a:xfrm>
            <a:off x="5870448" y="4279392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tests/</a:t>
            </a:r>
            <a:endParaRPr lang="en-US" sz="1080" dirty="0"/>
          </a:p>
        </p:txBody>
      </p:sp>
      <p:sp>
        <p:nvSpPr>
          <p:cNvPr id="24" name="Text 22"/>
          <p:cNvSpPr txBox="1"/>
          <p:nvPr/>
        </p:nvSpPr>
        <p:spPr>
          <a:xfrm>
            <a:off x="8156448" y="42793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testes de regras e casos-limite</a:t>
            </a:r>
            <a:endParaRPr lang="en-US" sz="1010" dirty="0"/>
          </a:p>
        </p:txBody>
      </p:sp>
      <p:sp>
        <p:nvSpPr>
          <p:cNvPr id="25" name="Text 23"/>
          <p:cNvSpPr txBox="1"/>
          <p:nvPr/>
        </p:nvSpPr>
        <p:spPr>
          <a:xfrm>
            <a:off x="5870448" y="4718304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data/sample_synthetic.csv</a:t>
            </a:r>
            <a:endParaRPr lang="en-US" sz="1080" dirty="0"/>
          </a:p>
        </p:txBody>
      </p:sp>
      <p:sp>
        <p:nvSpPr>
          <p:cNvPr id="26" name="Text 24"/>
          <p:cNvSpPr txBox="1"/>
          <p:nvPr/>
        </p:nvSpPr>
        <p:spPr>
          <a:xfrm>
            <a:off x="8156448" y="47183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 sintético, nunca base real</a:t>
            </a:r>
            <a:endParaRPr lang="en-US" sz="1010" dirty="0"/>
          </a:p>
        </p:txBody>
      </p:sp>
      <p:sp>
        <p:nvSpPr>
          <p:cNvPr id="27" name="Text 25"/>
          <p:cNvSpPr txBox="1"/>
          <p:nvPr/>
        </p:nvSpPr>
        <p:spPr>
          <a:xfrm>
            <a:off x="5870448" y="5157216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requirements.txt + .gitignore</a:t>
            </a:r>
            <a:endParaRPr lang="en-US" sz="1080" dirty="0"/>
          </a:p>
        </p:txBody>
      </p:sp>
      <p:sp>
        <p:nvSpPr>
          <p:cNvPr id="28" name="Text 26"/>
          <p:cNvSpPr txBox="1"/>
          <p:nvPr/>
        </p:nvSpPr>
        <p:spPr>
          <a:xfrm>
            <a:off x="8156448" y="51572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dependências e proteção de arquivos</a:t>
            </a:r>
            <a:endParaRPr lang="en-US" sz="1010" dirty="0"/>
          </a:p>
        </p:txBody>
      </p:sp>
      <p:sp>
        <p:nvSpPr>
          <p:cNvPr id="29" name="Text 27"/>
          <p:cNvSpPr txBox="1"/>
          <p:nvPr/>
        </p:nvSpPr>
        <p:spPr>
          <a:xfrm>
            <a:off x="603504" y="6126480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i="1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 demonstração, mostrar README, árvore de arquivos, instruções e testes - não apenas a página inicial.</a:t>
            </a:r>
            <a:endParaRPr lang="en-US" sz="107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878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91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40" dirty="0">
                <a:solidFill>
                  <a:srgbClr val="10A9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· PRÓXIMOS PASSOS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Fechar o semestre com entregas verificáveis e validação do parceiro.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próxima interação deve ter data, responsável e objetivo acordados - preencher os campos após confirmar com a academia.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13232" y="1856232"/>
            <a:ext cx="384048" cy="384048"/>
          </a:xfrm>
          <a:prstGeom prst="ellipse">
            <a:avLst/>
          </a:prstGeom>
          <a:solidFill>
            <a:srgbClr val="10A99A"/>
          </a:solidFill>
          <a:ln w="1270">
            <a:solidFill>
              <a:srgbClr val="10A99A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883664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1810512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11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Alinhar</a:t>
            </a:r>
            <a:endParaRPr lang="en-US" sz="134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1810512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Demanda prioritária, responsável e termo.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905256" y="2249424"/>
            <a:ext cx="0" cy="246888"/>
          </a:xfrm>
          <a:prstGeom prst="line">
            <a:avLst/>
          </a:prstGeom>
          <a:solidFill>
            <a:srgbClr val="D8E1EA"/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551176"/>
            <a:ext cx="384048" cy="384048"/>
          </a:xfrm>
          <a:prstGeom prst="ellipse">
            <a:avLst/>
          </a:prstGeom>
          <a:solidFill>
            <a:srgbClr val="5C7CFA"/>
          </a:solidFill>
          <a:ln w="1270">
            <a:solidFill>
              <a:srgbClr val="5C7CFA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578608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16736" y="2505456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11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dados</a:t>
            </a:r>
            <a:endParaRPr lang="en-US" sz="134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2505456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Campos, identificadores, status e amostra.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905256" y="2944368"/>
            <a:ext cx="0" cy="246888"/>
          </a:xfrm>
          <a:prstGeom prst="line">
            <a:avLst/>
          </a:prstGeom>
          <a:solidFill>
            <a:srgbClr val="D8E1EA"/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246120"/>
            <a:ext cx="384048" cy="384048"/>
          </a:xfrm>
          <a:prstGeom prst="ellipse">
            <a:avLst/>
          </a:prstGeom>
          <a:solidFill>
            <a:srgbClr val="10A99A"/>
          </a:solidFill>
          <a:ln w="1270">
            <a:solidFill>
              <a:srgbClr val="10A99A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273552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16736" y="320040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11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</a:t>
            </a:r>
            <a:endParaRPr lang="en-US" sz="1340" dirty="0"/>
          </a:p>
        </p:txBody>
      </p:sp>
      <p:sp>
        <p:nvSpPr>
          <p:cNvPr id="18" name="Text 16"/>
          <p:cNvSpPr txBox="1"/>
          <p:nvPr/>
        </p:nvSpPr>
        <p:spPr>
          <a:xfrm>
            <a:off x="3246120" y="3200400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Pipeline, indicadores e painel.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905256" y="3639312"/>
            <a:ext cx="0" cy="246888"/>
          </a:xfrm>
          <a:prstGeom prst="line">
            <a:avLst/>
          </a:prstGeom>
          <a:solidFill>
            <a:srgbClr val="D8E1EA"/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3941064"/>
            <a:ext cx="384048" cy="384048"/>
          </a:xfrm>
          <a:prstGeom prst="ellipse">
            <a:avLst/>
          </a:prstGeom>
          <a:solidFill>
            <a:srgbClr val="E9954B"/>
          </a:solidFill>
          <a:ln w="1270">
            <a:solidFill>
              <a:srgbClr val="E9954B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968496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316736" y="3895344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11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Testar com parceiro</a:t>
            </a:r>
            <a:endParaRPr lang="en-US" sz="1340" dirty="0"/>
          </a:p>
        </p:txBody>
      </p:sp>
      <p:sp>
        <p:nvSpPr>
          <p:cNvPr id="23" name="Text 21"/>
          <p:cNvSpPr txBox="1"/>
          <p:nvPr/>
        </p:nvSpPr>
        <p:spPr>
          <a:xfrm>
            <a:off x="3246120" y="3895344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alertas, utilidade e falsos positivos.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905256" y="4334256"/>
            <a:ext cx="0" cy="246888"/>
          </a:xfrm>
          <a:prstGeom prst="line">
            <a:avLst/>
          </a:prstGeom>
          <a:solidFill>
            <a:srgbClr val="D8E1EA"/>
          </a:solidFill>
          <a:ln w="127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4636008"/>
            <a:ext cx="384048" cy="384048"/>
          </a:xfrm>
          <a:prstGeom prst="ellipse">
            <a:avLst/>
          </a:prstGeom>
          <a:solidFill>
            <a:srgbClr val="287D68"/>
          </a:solidFill>
          <a:ln w="1270">
            <a:solidFill>
              <a:srgbClr val="287D68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466344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316736" y="4590288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11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Entregar</a:t>
            </a:r>
            <a:endParaRPr lang="en-US" sz="1340" dirty="0"/>
          </a:p>
        </p:txBody>
      </p:sp>
      <p:sp>
        <p:nvSpPr>
          <p:cNvPr id="28" name="Text 26"/>
          <p:cNvSpPr txBox="1"/>
          <p:nvPr/>
        </p:nvSpPr>
        <p:spPr>
          <a:xfrm>
            <a:off x="3246120" y="4590288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5D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Código, documentação e relatório de limites.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7388352" y="1883664"/>
            <a:ext cx="4242816" cy="3584448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0160">
            <a:solidFill>
              <a:srgbClr val="D8E1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88352" y="1883664"/>
            <a:ext cx="50292" cy="3584448"/>
          </a:xfrm>
          <a:prstGeom prst="rect">
            <a:avLst/>
          </a:prstGeom>
          <a:solidFill>
            <a:srgbClr val="E9954B"/>
          </a:solidFill>
          <a:ln w="1270">
            <a:solidFill>
              <a:srgbClr val="E9954B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80960" y="21579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kern="0" spc="140" dirty="0">
                <a:solidFill>
                  <a:srgbClr val="E995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PRÓXIMA INTERAÇÃO PREVISTA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7680960" y="256946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84C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[DATA] · [CANAL] · [PARTICIPANTES]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680960" y="33009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Pauta proposta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99248" y="3781044"/>
            <a:ext cx="68580" cy="68580"/>
          </a:xfrm>
          <a:prstGeom prst="ellipse">
            <a:avLst/>
          </a:prstGeom>
          <a:solidFill>
            <a:srgbClr val="E9954B"/>
          </a:solidFill>
          <a:ln w="1270">
            <a:solidFill>
              <a:srgbClr val="E9954B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854696" y="3675888"/>
            <a:ext cx="3319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72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definição de atraso e status cancelado.</a:t>
            </a:r>
            <a:endParaRPr lang="en-US" sz="1060" dirty="0"/>
          </a:p>
        </p:txBody>
      </p:sp>
      <p:sp>
        <p:nvSpPr>
          <p:cNvPr id="36" name="Shape 34"/>
          <p:cNvSpPr/>
          <p:nvPr/>
        </p:nvSpPr>
        <p:spPr>
          <a:xfrm>
            <a:off x="7699248" y="4283964"/>
            <a:ext cx="68580" cy="68580"/>
          </a:xfrm>
          <a:prstGeom prst="ellipse">
            <a:avLst/>
          </a:prstGeom>
          <a:solidFill>
            <a:srgbClr val="E9954B"/>
          </a:solidFill>
          <a:ln w="1270">
            <a:solidFill>
              <a:srgbClr val="E9954B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854696" y="4178808"/>
            <a:ext cx="3319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72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campos e autorização para amostra.</a:t>
            </a:r>
            <a:endParaRPr lang="en-US" sz="1060" dirty="0"/>
          </a:p>
        </p:txBody>
      </p:sp>
      <p:sp>
        <p:nvSpPr>
          <p:cNvPr id="38" name="Shape 36"/>
          <p:cNvSpPr/>
          <p:nvPr/>
        </p:nvSpPr>
        <p:spPr>
          <a:xfrm>
            <a:off x="7699248" y="4786884"/>
            <a:ext cx="68580" cy="68580"/>
          </a:xfrm>
          <a:prstGeom prst="ellipse">
            <a:avLst/>
          </a:prstGeom>
          <a:solidFill>
            <a:srgbClr val="E9954B"/>
          </a:solidFill>
          <a:ln w="1270">
            <a:solidFill>
              <a:srgbClr val="E9954B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854696" y="4681728"/>
            <a:ext cx="3319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72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indicadores prioritários e fluxo de revisão.</a:t>
            </a:r>
            <a:endParaRPr lang="en-US" sz="1060" dirty="0"/>
          </a:p>
        </p:txBody>
      </p:sp>
      <p:sp>
        <p:nvSpPr>
          <p:cNvPr id="40" name="Text 38"/>
          <p:cNvSpPr txBox="1"/>
          <p:nvPr/>
        </p:nvSpPr>
        <p:spPr>
          <a:xfrm>
            <a:off x="603504" y="592531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1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Entregáveis: dicionário · pipeline · painel · alertas (se validados) · relatório final.</a:t>
            </a:r>
            <a:endParaRPr lang="en-US" sz="112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38404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8788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2405</Words>
  <Application>Microsoft Office PowerPoint</Application>
  <PresentationFormat>Widescreen</PresentationFormat>
  <Paragraphs>212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CEUB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apoio à prevenção da inadimplência em academias</dc:title>
  <dc:subject>Pitch de extensão - Academia Equilíbrio e Movimento</dc:subject>
  <dc:creator>Projeto Integrador - CEUB</dc:creator>
  <cp:lastModifiedBy>CEUB</cp:lastModifiedBy>
  <cp:revision>3</cp:revision>
  <dcterms:created xsi:type="dcterms:W3CDTF">2026-10-16T13:04:25Z</dcterms:created>
  <dcterms:modified xsi:type="dcterms:W3CDTF">2026-10-16T13:44:08Z</dcterms:modified>
</cp:coreProperties>
</file>